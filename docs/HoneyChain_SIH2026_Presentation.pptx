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286000"/>
            <a:ext cx="10728655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400" b="1">
                <a:solidFill>
                  <a:srgbClr val="D99000"/>
                </a:solidFill>
                <a:latin typeface="Inter"/>
              </a:defRPr>
            </a:pPr>
            <a:r>
              <a:t>HONEYCHAIN</a:t>
            </a:r>
          </a:p>
          <a:p>
            <a:pPr>
              <a:defRPr sz="2200" b="1">
                <a:solidFill>
                  <a:srgbClr val="7A4B00"/>
                </a:solidFill>
                <a:latin typeface="Inter"/>
              </a:defRPr>
            </a:pPr>
            <a:r>
              <a:t>Blockchain-Based Honey Traceability &amp; Smart Beekeeping Management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4114800"/>
            <a:ext cx="10728655" cy="18288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99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4297680"/>
            <a:ext cx="10180015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400">
                <a:solidFill>
                  <a:srgbClr val="1F2937"/>
                </a:solidFill>
              </a:rPr>
              <a:t>SMART INDIA HACKATHON 2026  </a:t>
            </a:r>
            <a:r>
              <a:rPr sz="1400">
                <a:solidFill>
                  <a:srgbClr val="5B6472"/>
                </a:solidFill>
              </a:rPr>
              <a:t>Problem Statement ID: SIH26021</a:t>
            </a:r>
          </a:p>
          <a:p>
            <a:r>
              <a:rPr b="1" sz="1400">
                <a:solidFill>
                  <a:srgbClr val="1F2937"/>
                </a:solidFill>
              </a:rPr>
              <a:t>Official Problem Statement:  </a:t>
            </a:r>
            <a:r>
              <a:rPr sz="1400">
                <a:solidFill>
                  <a:srgbClr val="5B6472"/>
                </a:solidFill>
              </a:rPr>
              <a:t>Honey Chain: A blockchain-based system for honey traceability and smart beekeeping management</a:t>
            </a:r>
          </a:p>
          <a:p>
            <a:r>
              <a:rPr b="1" sz="1400">
                <a:solidFill>
                  <a:srgbClr val="1F2937"/>
                </a:solidFill>
              </a:rPr>
              <a:t>Theme:  </a:t>
            </a:r>
            <a:r>
              <a:rPr sz="1400">
                <a:solidFill>
                  <a:srgbClr val="5B6472"/>
                </a:solidFill>
              </a:rPr>
              <a:t>Agriculture, FoodTech &amp; Rural Development   |   PS Category: Software</a:t>
            </a:r>
          </a:p>
          <a:p>
            <a:r>
              <a:rPr b="1" sz="1400">
                <a:solidFill>
                  <a:srgbClr val="1F2937"/>
                </a:solidFill>
              </a:rPr>
              <a:t>Team Name:  </a:t>
            </a:r>
            <a:r>
              <a:rPr sz="1400">
                <a:solidFill>
                  <a:srgbClr val="5B6472"/>
                </a:solidFill>
              </a:rPr>
              <a:t>Team Nexora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309360"/>
            <a:ext cx="10728655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>
                <a:solidFill>
                  <a:srgbClr val="5B6472"/>
                </a:solidFill>
                <a:latin typeface="Inter"/>
              </a:defRPr>
            </a:pPr>
            <a:r>
              <a:t>From Hive to Home — Transparent. Traceable. Trusted.  |  Team Nexora  |  Problem Statement ID: SIH26021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D99000"/>
                </a:solidFill>
                <a:latin typeface="Inter"/>
              </a:defRPr>
            </a:pPr>
            <a:r>
              <a:t>SMART INDIA HACKATHON 2026 • SIH26021</a:t>
            </a:r>
          </a:p>
          <a:p>
            <a:pPr>
              <a:defRPr sz="2600" b="1">
                <a:solidFill>
                  <a:srgbClr val="7A4B00"/>
                </a:solidFill>
                <a:latin typeface="Inter"/>
              </a:defRPr>
            </a:pPr>
            <a:r>
              <a:t>HONEYCHAIN: Smart Beekeeping &amp; Trusted Honey Traceability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188720"/>
            <a:ext cx="10728655" cy="6400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9DE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280160"/>
            <a:ext cx="1036289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1F2937"/>
                </a:solidFill>
              </a:defRPr>
            </a:pPr>
            <a:r>
              <a:t>Proposed Solution: HoneyChain is an integrated IoT + AI/ML + Blockchain platform connecting smart hive monitoring with end-to-end honey traceability.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920240"/>
            <a:ext cx="3383280" cy="27432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9DE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2057400"/>
            <a:ext cx="320040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500">
                <a:solidFill>
                  <a:srgbClr val="D99000"/>
                </a:solidFill>
              </a:defRPr>
            </a:pPr>
            <a:r>
              <a:t>SMART HIVE MONITORING</a:t>
            </a:r>
          </a:p>
          <a:p>
            <a:pPr>
              <a:defRPr sz="1100">
                <a:solidFill>
                  <a:srgbClr val="1F2937"/>
                </a:solidFill>
              </a:defRPr>
            </a:pPr>
            <a:r>
              <a:t>Temperature &amp; Relative Humidity (SHT4x)</a:t>
            </a:r>
          </a:p>
          <a:p>
            <a:pPr>
              <a:defRPr sz="1100">
                <a:solidFill>
                  <a:srgbClr val="1F2937"/>
                </a:solidFill>
              </a:defRPr>
            </a:pPr>
            <a:r>
              <a:t>Hive Weight (Industrial Load Cell)</a:t>
            </a:r>
          </a:p>
          <a:p>
            <a:pPr>
              <a:defRPr sz="1100">
                <a:solidFill>
                  <a:srgbClr val="1F2937"/>
                </a:solidFill>
              </a:defRPr>
            </a:pPr>
            <a:r>
              <a:t>CO₂ Concentration (SCD30)</a:t>
            </a:r>
          </a:p>
          <a:p>
            <a:pPr>
              <a:defRPr sz="1100">
                <a:solidFill>
                  <a:srgbClr val="1F2937"/>
                </a:solidFill>
              </a:defRPr>
            </a:pPr>
            <a:r>
              <a:t>Acoustic Activity (MEMS Mic)</a:t>
            </a:r>
          </a:p>
          <a:p>
            <a:pPr>
              <a:defRPr sz="1100">
                <a:solidFill>
                  <a:srgbClr val="1F2937"/>
                </a:solidFill>
              </a:defRPr>
            </a:pPr>
            <a:r>
              <a:t>Vibration/Activity (3-Axis Accelerometer)</a:t>
            </a:r>
          </a:p>
          <a:p>
            <a:pPr>
              <a:defRPr sz="1100">
                <a:solidFill>
                  <a:srgbClr val="1F2937"/>
                </a:solidFill>
              </a:defRPr>
            </a:pPr>
            <a:r>
              <a:t>GNSS/Apiary Location Support</a:t>
            </a:r>
          </a:p>
          <a:p>
            <a:pPr>
              <a:defRPr sz="1100">
                <a:solidFill>
                  <a:srgbClr val="B7791F"/>
                </a:solidFill>
              </a:defRPr>
            </a:pPr>
            <a:r>
              <a:t>• Prototype: ESP32-based telemetry</a:t>
            </a:r>
          </a:p>
          <a:p>
            <a:pPr>
              <a:defRPr sz="1100">
                <a:solidFill>
                  <a:srgbClr val="B7791F"/>
                </a:solidFill>
              </a:defRPr>
            </a:pPr>
            <a:r>
              <a:t>• Target: Industrial sensors + edge IoT gateway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0" y="1920240"/>
            <a:ext cx="3383280" cy="27432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9DE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480560" y="2057400"/>
            <a:ext cx="320040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500">
                <a:solidFill>
                  <a:srgbClr val="7A4B00"/>
                </a:solidFill>
              </a:defRPr>
            </a:pPr>
            <a:r>
              <a:t>AI-ASSISTED INTELLIGENCE</a:t>
            </a:r>
          </a:p>
          <a:p>
            <a:pPr>
              <a:defRPr sz="1100">
                <a:solidFill>
                  <a:srgbClr val="1F2937"/>
                </a:solidFill>
              </a:defRPr>
            </a:pPr>
            <a:r>
              <a:t>Telemetry anomaly screening</a:t>
            </a:r>
          </a:p>
          <a:p>
            <a:pPr>
              <a:defRPr sz="1100">
                <a:solidFill>
                  <a:srgbClr val="1F2937"/>
                </a:solidFill>
              </a:defRPr>
            </a:pPr>
            <a:r>
              <a:t>Pattern analysis &amp; trend forecasting</a:t>
            </a:r>
          </a:p>
          <a:p>
            <a:pPr>
              <a:defRPr sz="1100">
                <a:solidFill>
                  <a:srgbClr val="1F2937"/>
                </a:solidFill>
              </a:defRPr>
            </a:pPr>
            <a:r>
              <a:t>Early-warning anomaly alerts</a:t>
            </a:r>
          </a:p>
          <a:p>
            <a:pPr>
              <a:defRPr sz="1100">
                <a:solidFill>
                  <a:srgbClr val="1F2937"/>
                </a:solidFill>
              </a:defRPr>
            </a:pPr>
            <a:r>
              <a:t>Honey-quality screening models</a:t>
            </a:r>
          </a:p>
          <a:p>
            <a:pPr>
              <a:defRPr sz="1100">
                <a:solidFill>
                  <a:srgbClr val="1F2937"/>
                </a:solidFill>
              </a:defRPr>
            </a:pPr>
            <a:r>
              <a:t>Decision support for beekeepers &amp; inspectors</a:t>
            </a:r>
          </a:p>
          <a:p>
            <a:pPr>
              <a:defRPr sz="1100">
                <a:solidFill>
                  <a:srgbClr val="1F2937"/>
                </a:solidFill>
              </a:defRPr>
            </a:pPr>
          </a:p>
          <a:p>
            <a:pPr>
              <a:defRPr sz="1100" b="1">
                <a:solidFill>
                  <a:srgbClr val="B7791F"/>
                </a:solidFill>
              </a:defRPr>
            </a:pPr>
            <a:r>
              <a:t>Note: AI provides decision support, not definitive diagnosis.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46720" y="1920240"/>
            <a:ext cx="3383280" cy="27432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9DE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138160" y="2057400"/>
            <a:ext cx="320040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500">
                <a:solidFill>
                  <a:srgbClr val="6B46C1"/>
                </a:solidFill>
              </a:defRPr>
            </a:pPr>
            <a:r>
              <a:t>BLOCKCHAIN TRACEABILITY</a:t>
            </a:r>
          </a:p>
          <a:p>
            <a:pPr>
              <a:defRPr sz="1100">
                <a:solidFill>
                  <a:srgbClr val="1F2937"/>
                </a:solidFill>
              </a:defRPr>
            </a:pPr>
            <a:r>
              <a:t>Digital identity for honey batches &amp; packages</a:t>
            </a:r>
          </a:p>
          <a:p>
            <a:pPr>
              <a:defRPr sz="1100">
                <a:solidFill>
                  <a:srgbClr val="1F2937"/>
                </a:solidFill>
              </a:defRPr>
            </a:pPr>
            <a:r>
              <a:t>Harvest-to-packaging traceability flow</a:t>
            </a:r>
          </a:p>
          <a:p>
            <a:pPr>
              <a:defRPr sz="1100">
                <a:solidFill>
                  <a:srgbClr val="1F2937"/>
                </a:solidFill>
              </a:defRPr>
            </a:pPr>
            <a:r>
              <a:t>SHA-256 data integrity hashing</a:t>
            </a:r>
          </a:p>
          <a:p>
            <a:pPr>
              <a:defRPr sz="1100">
                <a:solidFill>
                  <a:srgbClr val="1F2937"/>
                </a:solidFill>
              </a:defRPr>
            </a:pPr>
            <a:r>
              <a:t>EVM smart-contract event anchoring</a:t>
            </a:r>
          </a:p>
          <a:p>
            <a:pPr>
              <a:defRPr sz="1100">
                <a:solidFill>
                  <a:srgbClr val="1F2937"/>
                </a:solidFill>
              </a:defRPr>
            </a:pPr>
            <a:r>
              <a:t>Tamper-evident supply-chain history</a:t>
            </a:r>
          </a:p>
          <a:p>
            <a:pPr>
              <a:defRPr sz="1100">
                <a:solidFill>
                  <a:srgbClr val="1F2937"/>
                </a:solidFill>
              </a:defRPr>
            </a:pPr>
          </a:p>
          <a:p>
            <a:pPr>
              <a:defRPr sz="1100" b="1">
                <a:solidFill>
                  <a:srgbClr val="6B46C1"/>
                </a:solidFill>
              </a:defRPr>
            </a:pPr>
            <a:r>
              <a:t>Note: Blockchain verifies recorded event integrity. Chemical purity requires lab testing.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4754880"/>
            <a:ext cx="10728655" cy="13716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99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4846320"/>
            <a:ext cx="10362895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300">
                <a:solidFill>
                  <a:srgbClr val="7A4B00"/>
                </a:solidFill>
              </a:defRPr>
            </a:pPr>
            <a:r>
              <a:t>CUSTOMER VERIFICATION QR FLOW &amp; ARCHITECTURE</a:t>
            </a:r>
          </a:p>
          <a:p>
            <a:pPr>
              <a:defRPr sz="1400" b="1">
                <a:solidFill>
                  <a:srgbClr val="198754"/>
                </a:solidFill>
              </a:defRPr>
            </a:pPr>
            <a:r>
              <a:t>QR Code  ➔  Package  ➔  Linked Batch  ➔  Traceability History  ➔  Blockchain Verification  ➔  Digital Honey Passport</a:t>
            </a:r>
          </a:p>
          <a:p>
            <a:pPr>
              <a:defRPr sz="1100">
                <a:solidFill>
                  <a:srgbClr val="5B6472"/>
                </a:solidFill>
              </a:defRPr>
            </a:pPr>
            <a:r>
              <a:t>Architecture Flow: [Sensors: SHT4x, Weight, SCD30, MEMS Mic, Vibration, GNSS]  ➔  [Edge IoT Gateway]  ➔  [Backend PostgreSQL + AI/ML + EVM Blockchain]  ➔  [Supply Chain &amp; Consumer QR]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6309360"/>
            <a:ext cx="10728655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>
                <a:solidFill>
                  <a:srgbClr val="5B6472"/>
                </a:solidFill>
                <a:latin typeface="Inter"/>
              </a:defRPr>
            </a:pPr>
            <a:r>
              <a:t>From Hive to Home — Transparent. Traceable. Trusted.  |  Team Nexora  |  Problem Statement ID: SIH26021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D99000"/>
                </a:solidFill>
                <a:latin typeface="Inter"/>
              </a:defRPr>
            </a:pPr>
            <a:r>
              <a:t>SMART INDIA HACKATHON 2026 • SIH26021</a:t>
            </a:r>
          </a:p>
          <a:p>
            <a:pPr>
              <a:defRPr sz="2600" b="1">
                <a:solidFill>
                  <a:srgbClr val="7A4B00"/>
                </a:solidFill>
                <a:latin typeface="Inter"/>
              </a:defRPr>
            </a:pPr>
            <a:r>
              <a:t>TECHNICAL APPROACH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188720"/>
            <a:ext cx="2057400" cy="49377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9DE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280160"/>
            <a:ext cx="187452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300">
                <a:solidFill>
                  <a:srgbClr val="D99000"/>
                </a:solidFill>
              </a:defRPr>
            </a:pPr>
            <a:r>
              <a:t>1. IoT &amp; Smart Hive</a:t>
            </a:r>
          </a:p>
          <a:p>
            <a:pPr>
              <a:defRPr sz="1000" b="1">
                <a:solidFill>
                  <a:srgbClr val="1F2937"/>
                </a:solidFill>
              </a:defRPr>
            </a:pPr>
            <a:r>
              <a:t>Prototype:</a:t>
            </a:r>
          </a:p>
          <a:p>
            <a:pPr>
              <a:defRPr sz="1000">
                <a:solidFill>
                  <a:srgbClr val="5B6472"/>
                </a:solidFill>
              </a:defRPr>
            </a:pPr>
            <a:r>
              <a:t>• ESP32-based telemetry</a:t>
            </a:r>
          </a:p>
          <a:p>
            <a:pPr>
              <a:defRPr sz="1000">
                <a:solidFill>
                  <a:srgbClr val="5B6472"/>
                </a:solidFill>
              </a:defRPr>
            </a:pPr>
            <a:r>
              <a:t>• Temp &amp; Humidity sensing</a:t>
            </a:r>
          </a:p>
          <a:p>
            <a:pPr>
              <a:defRPr sz="1000">
                <a:solidFill>
                  <a:srgbClr val="5B6472"/>
                </a:solidFill>
              </a:defRPr>
            </a:pPr>
            <a:r>
              <a:t>• Wi-Fi connectivity</a:t>
            </a:r>
          </a:p>
          <a:p>
            <a:pPr>
              <a:defRPr sz="1000">
                <a:solidFill>
                  <a:srgbClr val="5B6472"/>
                </a:solidFill>
              </a:defRPr>
            </a:pPr>
          </a:p>
          <a:p>
            <a:pPr>
              <a:defRPr sz="1000" b="1">
                <a:solidFill>
                  <a:srgbClr val="1F2937"/>
                </a:solidFill>
              </a:defRPr>
            </a:pPr>
            <a:r>
              <a:t>Target Architecture:</a:t>
            </a:r>
          </a:p>
          <a:p>
            <a:pPr>
              <a:defRPr sz="1000">
                <a:solidFill>
                  <a:srgbClr val="5B6472"/>
                </a:solidFill>
              </a:defRPr>
            </a:pPr>
            <a:r>
              <a:t>• Sensirion SHT4x (Temp/RH)</a:t>
            </a:r>
          </a:p>
          <a:p>
            <a:pPr>
              <a:defRPr sz="1000">
                <a:solidFill>
                  <a:srgbClr val="5B6472"/>
                </a:solidFill>
              </a:defRPr>
            </a:pPr>
            <a:r>
              <a:t>• Industrial Load Cell + ADC</a:t>
            </a:r>
          </a:p>
          <a:p>
            <a:pPr>
              <a:defRPr sz="1000">
                <a:solidFill>
                  <a:srgbClr val="5B6472"/>
                </a:solidFill>
              </a:defRPr>
            </a:pPr>
            <a:r>
              <a:t>• SCD30 NDIR CO₂</a:t>
            </a:r>
          </a:p>
          <a:p>
            <a:pPr>
              <a:defRPr sz="1000">
                <a:solidFill>
                  <a:srgbClr val="5B6472"/>
                </a:solidFill>
              </a:defRPr>
            </a:pPr>
            <a:r>
              <a:t>• MEMS Microphone</a:t>
            </a:r>
          </a:p>
          <a:p>
            <a:pPr>
              <a:defRPr sz="1000">
                <a:solidFill>
                  <a:srgbClr val="5B6472"/>
                </a:solidFill>
              </a:defRPr>
            </a:pPr>
            <a:r>
              <a:t>• 3-Axis Accelerometer</a:t>
            </a:r>
          </a:p>
          <a:p>
            <a:pPr>
              <a:defRPr sz="1000">
                <a:solidFill>
                  <a:srgbClr val="5B6472"/>
                </a:solidFill>
              </a:defRPr>
            </a:pPr>
            <a:r>
              <a:t>• GNSS Location</a:t>
            </a:r>
          </a:p>
          <a:p>
            <a:pPr>
              <a:defRPr sz="1000">
                <a:solidFill>
                  <a:srgbClr val="5B6472"/>
                </a:solidFill>
              </a:defRPr>
            </a:pPr>
            <a:r>
              <a:t>• Edge IoT Gateway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898648" y="1188720"/>
            <a:ext cx="2057400" cy="49377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9DE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990088" y="1280160"/>
            <a:ext cx="187452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300">
                <a:solidFill>
                  <a:srgbClr val="7A4B00"/>
                </a:solidFill>
              </a:defRPr>
            </a:pPr>
            <a:r>
              <a:t>2. Secure Backend</a:t>
            </a:r>
          </a:p>
          <a:p>
            <a:pPr>
              <a:defRPr sz="1000" b="1">
                <a:solidFill>
                  <a:srgbClr val="1F2937"/>
                </a:solidFill>
              </a:defRPr>
            </a:pPr>
            <a:r>
              <a:t>Stack &amp; Security:</a:t>
            </a:r>
          </a:p>
          <a:p>
            <a:pPr>
              <a:defRPr sz="1000">
                <a:solidFill>
                  <a:srgbClr val="5B6472"/>
                </a:solidFill>
              </a:defRPr>
            </a:pPr>
            <a:r>
              <a:t>• Java + Spring Boot</a:t>
            </a:r>
          </a:p>
          <a:p>
            <a:pPr>
              <a:defRPr sz="1000">
                <a:solidFill>
                  <a:srgbClr val="5B6472"/>
                </a:solidFill>
              </a:defRPr>
            </a:pPr>
            <a:r>
              <a:t>• REST APIs &amp; JWT</a:t>
            </a:r>
          </a:p>
          <a:p>
            <a:pPr>
              <a:defRPr sz="1000" b="1">
                <a:solidFill>
                  <a:srgbClr val="1F2937"/>
                </a:solidFill>
              </a:defRPr>
            </a:pPr>
            <a:r>
              <a:t>• Spring Security RBAC:</a:t>
            </a:r>
          </a:p>
          <a:p>
            <a:pPr>
              <a:defRPr sz="1000">
                <a:solidFill>
                  <a:srgbClr val="5B6472"/>
                </a:solidFill>
              </a:defRPr>
            </a:pPr>
            <a:r>
              <a:t>  - ADMIN</a:t>
            </a:r>
          </a:p>
          <a:p>
            <a:pPr>
              <a:defRPr sz="1000">
                <a:solidFill>
                  <a:srgbClr val="5B6472"/>
                </a:solidFill>
              </a:defRPr>
            </a:pPr>
            <a:r>
              <a:t>  - BEEKEEPER</a:t>
            </a:r>
          </a:p>
          <a:p>
            <a:pPr>
              <a:defRPr sz="1000">
                <a:solidFill>
                  <a:srgbClr val="5B6472"/>
                </a:solidFill>
              </a:defRPr>
            </a:pPr>
            <a:r>
              <a:t>  - QUALITY INSPECTOR</a:t>
            </a:r>
          </a:p>
          <a:p>
            <a:pPr>
              <a:defRPr sz="1000">
                <a:solidFill>
                  <a:srgbClr val="5B6472"/>
                </a:solidFill>
              </a:defRPr>
            </a:pPr>
            <a:r>
              <a:t>• PostgreSQL + JPA</a:t>
            </a:r>
          </a:p>
          <a:p>
            <a:pPr>
              <a:defRPr sz="1000">
                <a:solidFill>
                  <a:srgbClr val="5B6472"/>
                </a:solidFill>
              </a:defRPr>
            </a:pPr>
            <a:r>
              <a:t>• Flyway Schema Migrations</a:t>
            </a:r>
          </a:p>
          <a:p>
            <a:pPr>
              <a:defRPr sz="1000">
                <a:solidFill>
                  <a:srgbClr val="5B6472"/>
                </a:solidFill>
              </a:defRPr>
            </a:pPr>
            <a:r>
              <a:t>• Secure IoT API Integration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65776" y="1188720"/>
            <a:ext cx="2057400" cy="49377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9DE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157216" y="1280160"/>
            <a:ext cx="187452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300">
                <a:solidFill>
                  <a:srgbClr val="D99000"/>
                </a:solidFill>
              </a:defRPr>
            </a:pPr>
            <a:r>
              <a:t>3. AI/ML Engine</a:t>
            </a:r>
          </a:p>
          <a:p>
            <a:pPr>
              <a:defRPr sz="1000" b="1">
                <a:solidFill>
                  <a:srgbClr val="1F2937"/>
                </a:solidFill>
              </a:defRPr>
            </a:pPr>
            <a:r>
              <a:t>Intelligence Layer:</a:t>
            </a:r>
          </a:p>
          <a:p>
            <a:pPr>
              <a:defRPr sz="1000">
                <a:solidFill>
                  <a:srgbClr val="5B6472"/>
                </a:solidFill>
              </a:defRPr>
            </a:pPr>
            <a:r>
              <a:t>• Java-based ML engine</a:t>
            </a:r>
          </a:p>
          <a:p>
            <a:pPr>
              <a:defRPr sz="1000">
                <a:solidFill>
                  <a:srgbClr val="5B6472"/>
                </a:solidFill>
              </a:defRPr>
            </a:pPr>
            <a:r>
              <a:t>• Random Forest anomaly</a:t>
            </a:r>
          </a:p>
          <a:p>
            <a:pPr>
              <a:defRPr sz="1000">
                <a:solidFill>
                  <a:srgbClr val="5B6472"/>
                </a:solidFill>
              </a:defRPr>
            </a:pPr>
            <a:r>
              <a:t>• Telemetry pattern analysis</a:t>
            </a:r>
          </a:p>
          <a:p>
            <a:pPr>
              <a:defRPr sz="1000">
                <a:solidFill>
                  <a:srgbClr val="5B6472"/>
                </a:solidFill>
              </a:defRPr>
            </a:pPr>
            <a:r>
              <a:t>• Honey-quality screening</a:t>
            </a:r>
          </a:p>
          <a:p>
            <a:pPr>
              <a:defRPr sz="1000">
                <a:solidFill>
                  <a:srgbClr val="5B6472"/>
                </a:solidFill>
              </a:defRPr>
            </a:pPr>
            <a:r>
              <a:t>• Early-warning alerts</a:t>
            </a:r>
          </a:p>
          <a:p>
            <a:pPr>
              <a:defRPr sz="1000">
                <a:solidFill>
                  <a:srgbClr val="5B6472"/>
                </a:solidFill>
              </a:defRPr>
            </a:pPr>
            <a:r>
              <a:t>• Rule-based fallback</a:t>
            </a:r>
          </a:p>
          <a:p>
            <a:pPr>
              <a:defRPr sz="1000">
                <a:solidFill>
                  <a:srgbClr val="5B6472"/>
                </a:solidFill>
              </a:defRPr>
            </a:pPr>
            <a:r>
              <a:t>• Decision support</a:t>
            </a:r>
          </a:p>
          <a:p>
            <a:pPr>
              <a:defRPr sz="1000">
                <a:solidFill>
                  <a:srgbClr val="5B6472"/>
                </a:solidFill>
              </a:defRPr>
            </a:pPr>
          </a:p>
          <a:p>
            <a:pPr>
              <a:defRPr sz="1000" b="1">
                <a:solidFill>
                  <a:srgbClr val="1F2937"/>
                </a:solidFill>
              </a:defRPr>
            </a:pPr>
            <a:r>
              <a:t>Models:</a:t>
            </a:r>
          </a:p>
          <a:p>
            <a:pPr>
              <a:defRPr sz="1000">
                <a:solidFill>
                  <a:srgbClr val="5B6472"/>
                </a:solidFill>
              </a:defRPr>
            </a:pPr>
            <a:r>
              <a:t>• honeychain-anomaly-v1</a:t>
            </a:r>
          </a:p>
          <a:p>
            <a:pPr>
              <a:defRPr sz="1000">
                <a:solidFill>
                  <a:srgbClr val="5B6472"/>
                </a:solidFill>
              </a:defRPr>
            </a:pPr>
            <a:r>
              <a:t>• honeychain-quality-v1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232904" y="1188720"/>
            <a:ext cx="2057400" cy="49377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9DE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24344" y="1280160"/>
            <a:ext cx="187452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300">
                <a:solidFill>
                  <a:srgbClr val="6B46C1"/>
                </a:solidFill>
              </a:defRPr>
            </a:pPr>
            <a:r>
              <a:t>4. Blockchain Integrity</a:t>
            </a:r>
          </a:p>
          <a:p>
            <a:pPr>
              <a:defRPr sz="1000" b="1">
                <a:solidFill>
                  <a:srgbClr val="1F2937"/>
                </a:solidFill>
              </a:defRPr>
            </a:pPr>
            <a:r>
              <a:t>Web3 Stack:</a:t>
            </a:r>
          </a:p>
          <a:p>
            <a:pPr>
              <a:defRPr sz="1000">
                <a:solidFill>
                  <a:srgbClr val="5B6472"/>
                </a:solidFill>
              </a:defRPr>
            </a:pPr>
            <a:r>
              <a:t>• Solidity Smart Contract</a:t>
            </a:r>
          </a:p>
          <a:p>
            <a:pPr>
              <a:defRPr sz="1000">
                <a:solidFill>
                  <a:srgbClr val="5B6472"/>
                </a:solidFill>
              </a:defRPr>
            </a:pPr>
            <a:r>
              <a:t>• EVM &amp; Hardhat</a:t>
            </a:r>
          </a:p>
          <a:p>
            <a:pPr>
              <a:defRPr sz="1000">
                <a:solidFill>
                  <a:srgbClr val="5B6472"/>
                </a:solidFill>
              </a:defRPr>
            </a:pPr>
            <a:r>
              <a:t>• Web3j Integration</a:t>
            </a:r>
          </a:p>
          <a:p>
            <a:pPr>
              <a:defRPr sz="1000">
                <a:solidFill>
                  <a:srgbClr val="5B6472"/>
                </a:solidFill>
              </a:defRPr>
            </a:pPr>
            <a:r>
              <a:t>• SHA-256 Hash</a:t>
            </a:r>
          </a:p>
          <a:p>
            <a:pPr>
              <a:defRPr sz="1000">
                <a:solidFill>
                  <a:srgbClr val="5B6472"/>
                </a:solidFill>
              </a:defRPr>
            </a:pPr>
            <a:r>
              <a:t>• Package traceability</a:t>
            </a:r>
          </a:p>
          <a:p>
            <a:pPr>
              <a:defRPr sz="1000">
                <a:solidFill>
                  <a:srgbClr val="5B6472"/>
                </a:solidFill>
              </a:defRPr>
            </a:pPr>
            <a:r>
              <a:t>• QR Verification</a:t>
            </a:r>
          </a:p>
          <a:p>
            <a:pPr>
              <a:defRPr sz="1000">
                <a:solidFill>
                  <a:srgbClr val="5B6472"/>
                </a:solidFill>
              </a:defRPr>
            </a:pPr>
          </a:p>
          <a:p>
            <a:pPr>
              <a:defRPr sz="1000" b="1">
                <a:solidFill>
                  <a:srgbClr val="1F2937"/>
                </a:solidFill>
              </a:defRPr>
            </a:pPr>
            <a:r>
              <a:t>Data Hash Flow:</a:t>
            </a:r>
          </a:p>
          <a:p>
            <a:pPr>
              <a:defRPr sz="1000">
                <a:solidFill>
                  <a:srgbClr val="5B6472"/>
                </a:solidFill>
              </a:defRPr>
            </a:pPr>
            <a:r>
              <a:t>Data ➔ SHA-256 ➔ EVM Contract ➔ Tx Proof</a:t>
            </a:r>
          </a:p>
          <a:p>
            <a:pPr>
              <a:defRPr sz="1000" b="1">
                <a:solidFill>
                  <a:srgbClr val="6B46C1"/>
                </a:solidFill>
              </a:defRPr>
            </a:pPr>
            <a:r>
              <a:t>SHA-256 = Data Integrity</a:t>
            </a:r>
          </a:p>
          <a:p>
            <a:pPr>
              <a:defRPr sz="1000" b="1">
                <a:solidFill>
                  <a:srgbClr val="6B46C1"/>
                </a:solidFill>
              </a:defRPr>
            </a:pPr>
            <a:r>
              <a:t>EVM Tx = Chain Proof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400032" y="1188720"/>
            <a:ext cx="2057400" cy="49377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9DE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491472" y="1280160"/>
            <a:ext cx="187452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300">
                <a:solidFill>
                  <a:srgbClr val="7A4B00"/>
                </a:solidFill>
              </a:defRPr>
            </a:pPr>
            <a:r>
              <a:t>5. Web, Mobile &amp; Deploy</a:t>
            </a:r>
          </a:p>
          <a:p>
            <a:pPr>
              <a:defRPr sz="1000" b="1">
                <a:solidFill>
                  <a:srgbClr val="1F2937"/>
                </a:solidFill>
              </a:defRPr>
            </a:pPr>
            <a:r>
              <a:t>Application Stack:</a:t>
            </a:r>
          </a:p>
          <a:p>
            <a:pPr>
              <a:defRPr sz="1000">
                <a:solidFill>
                  <a:srgbClr val="5B6472"/>
                </a:solidFill>
              </a:defRPr>
            </a:pPr>
            <a:r>
              <a:t>• React + TypeScript Web</a:t>
            </a:r>
          </a:p>
          <a:p>
            <a:pPr>
              <a:defRPr sz="1000">
                <a:solidFill>
                  <a:srgbClr val="5B6472"/>
                </a:solidFill>
              </a:defRPr>
            </a:pPr>
            <a:r>
              <a:t>• Flutter + Dart Android</a:t>
            </a:r>
          </a:p>
          <a:p>
            <a:pPr>
              <a:defRPr sz="1000" b="1">
                <a:solidFill>
                  <a:srgbClr val="1F2937"/>
                </a:solidFill>
              </a:defRPr>
            </a:pPr>
            <a:r>
              <a:t>• Containerization:</a:t>
            </a:r>
          </a:p>
          <a:p>
            <a:pPr>
              <a:defRPr sz="1000">
                <a:solidFill>
                  <a:srgbClr val="5B6472"/>
                </a:solidFill>
              </a:defRPr>
            </a:pPr>
            <a:r>
              <a:t>  - Docker &amp; Compose</a:t>
            </a:r>
          </a:p>
          <a:p>
            <a:pPr>
              <a:defRPr sz="1000">
                <a:solidFill>
                  <a:srgbClr val="5B6472"/>
                </a:solidFill>
              </a:defRPr>
            </a:pPr>
            <a:r>
              <a:t>• Database: PostgreSQL</a:t>
            </a:r>
          </a:p>
          <a:p>
            <a:pPr>
              <a:defRPr sz="1000">
                <a:solidFill>
                  <a:srgbClr val="5B6472"/>
                </a:solidFill>
              </a:defRPr>
            </a:pPr>
            <a:r>
              <a:t>• Version Control: GitHub</a:t>
            </a:r>
          </a:p>
          <a:p>
            <a:pPr>
              <a:defRPr sz="1000">
                <a:solidFill>
                  <a:srgbClr val="5B6472"/>
                </a:solidFill>
              </a:defRPr>
            </a:pPr>
            <a:r>
              <a:t>• Local / Edge Deployment</a:t>
            </a:r>
          </a:p>
          <a:p>
            <a:pPr>
              <a:defRPr sz="1000">
                <a:solidFill>
                  <a:srgbClr val="5B6472"/>
                </a:solidFill>
              </a:defRPr>
            </a:pPr>
            <a:r>
              <a:t>• Robust Offline Cache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6309360"/>
            <a:ext cx="10728655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>
                <a:solidFill>
                  <a:srgbClr val="5B6472"/>
                </a:solidFill>
                <a:latin typeface="Inter"/>
              </a:defRPr>
            </a:pPr>
            <a:r>
              <a:t>From Hive to Home — Transparent. Traceable. Trusted.  |  Team Nexora  |  Problem Statement ID: SIH26021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D99000"/>
                </a:solidFill>
                <a:latin typeface="Inter"/>
              </a:defRPr>
            </a:pPr>
            <a:r>
              <a:t>SMART INDIA HACKATHON 2026 • SIH26021</a:t>
            </a:r>
          </a:p>
          <a:p>
            <a:pPr>
              <a:defRPr sz="2600" b="1">
                <a:solidFill>
                  <a:srgbClr val="7A4B00"/>
                </a:solidFill>
                <a:latin typeface="Inter"/>
              </a:defRPr>
            </a:pPr>
            <a:r>
              <a:t>FEASIBILITY AND VIABILITY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188720"/>
            <a:ext cx="5212080" cy="23774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9DE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325880"/>
            <a:ext cx="484632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400">
                <a:solidFill>
                  <a:srgbClr val="D99000"/>
                </a:solidFill>
              </a:defRPr>
            </a:pPr>
            <a:r>
              <a:t>PANEL 1: INDUSTRIAL SMART HIVE</a:t>
            </a:r>
          </a:p>
          <a:p>
            <a:pPr>
              <a:defRPr sz="1100">
                <a:solidFill>
                  <a:srgbClr val="1F2937"/>
                </a:solidFill>
              </a:defRPr>
            </a:pPr>
            <a:r>
              <a:t>• Industrial Load Cell + Precision ADC (Hive Weight)</a:t>
            </a:r>
          </a:p>
          <a:p>
            <a:pPr>
              <a:defRPr sz="1100">
                <a:solidFill>
                  <a:srgbClr val="1F2937"/>
                </a:solidFill>
              </a:defRPr>
            </a:pPr>
            <a:r>
              <a:t>• Sensirion SHT4x (Temperature &amp; Relative Humidity)</a:t>
            </a:r>
          </a:p>
          <a:p>
            <a:pPr>
              <a:defRPr sz="1100">
                <a:solidFill>
                  <a:srgbClr val="1F2937"/>
                </a:solidFill>
              </a:defRPr>
            </a:pPr>
            <a:r>
              <a:t>• SCD30 NDIR Sensor (CO₂ Monitoring)</a:t>
            </a:r>
          </a:p>
          <a:p>
            <a:pPr>
              <a:defRPr sz="1100">
                <a:solidFill>
                  <a:srgbClr val="1F2937"/>
                </a:solidFill>
              </a:defRPr>
            </a:pPr>
            <a:r>
              <a:t>• MEMS Microphone (Acoustic Colony Screening)</a:t>
            </a:r>
          </a:p>
          <a:p>
            <a:pPr>
              <a:defRPr sz="1100">
                <a:solidFill>
                  <a:srgbClr val="1F2937"/>
                </a:solidFill>
              </a:defRPr>
            </a:pPr>
            <a:r>
              <a:t>• 3-Axis MEMS Accelerometer (Vibration &amp; Activity)</a:t>
            </a:r>
          </a:p>
          <a:p>
            <a:pPr>
              <a:defRPr sz="1100">
                <a:solidFill>
                  <a:srgbClr val="1F2937"/>
                </a:solidFill>
              </a:defRPr>
            </a:pPr>
            <a:r>
              <a:t>• GNSS / Apiary Location &amp; Edge Gateway</a:t>
            </a:r>
          </a:p>
          <a:p>
            <a:pPr>
              <a:defRPr sz="1100" b="1">
                <a:solidFill>
                  <a:srgbClr val="D99000"/>
                </a:solidFill>
              </a:defRPr>
            </a:pPr>
            <a:r>
              <a:t>Path: Prototype → Industrial Deployment Path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188720"/>
            <a:ext cx="5212080" cy="23774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9DE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0" y="1325880"/>
            <a:ext cx="484632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400">
                <a:solidFill>
                  <a:srgbClr val="7A4B00"/>
                </a:solidFill>
              </a:defRPr>
            </a:pPr>
            <a:r>
              <a:t>PANEL 2: AI / ML INTELLIGENCE</a:t>
            </a:r>
          </a:p>
          <a:p>
            <a:pPr>
              <a:defRPr sz="1100">
                <a:solidFill>
                  <a:srgbClr val="1F2937"/>
                </a:solidFill>
              </a:defRPr>
            </a:pPr>
            <a:r>
              <a:t>• Java-based Machine Learning Engine</a:t>
            </a:r>
          </a:p>
          <a:p>
            <a:pPr>
              <a:defRPr sz="1100">
                <a:solidFill>
                  <a:srgbClr val="1F2937"/>
                </a:solidFill>
              </a:defRPr>
            </a:pPr>
            <a:r>
              <a:t>• Random Forest Telemetry Anomaly Screening</a:t>
            </a:r>
          </a:p>
          <a:p>
            <a:pPr>
              <a:defRPr sz="1100">
                <a:solidFill>
                  <a:srgbClr val="1F2937"/>
                </a:solidFill>
              </a:defRPr>
            </a:pPr>
            <a:r>
              <a:t>• Pattern Analysis &amp; Hive Trend Forecasting</a:t>
            </a:r>
          </a:p>
          <a:p>
            <a:pPr>
              <a:defRPr sz="1100">
                <a:solidFill>
                  <a:srgbClr val="1F2937"/>
                </a:solidFill>
              </a:defRPr>
            </a:pPr>
            <a:r>
              <a:t>• Honey-Quality Screening &amp; Parameter Validation</a:t>
            </a:r>
          </a:p>
          <a:p>
            <a:pPr>
              <a:defRPr sz="1100">
                <a:solidFill>
                  <a:srgbClr val="1F2937"/>
                </a:solidFill>
              </a:defRPr>
            </a:pPr>
            <a:r>
              <a:t>• Automated Early-Warning Alerts for Beekeepers</a:t>
            </a:r>
          </a:p>
          <a:p>
            <a:pPr>
              <a:defRPr sz="1100">
                <a:solidFill>
                  <a:srgbClr val="1F2937"/>
                </a:solidFill>
              </a:defRPr>
            </a:pPr>
            <a:r>
              <a:t>• Decision Support for Inspectors &amp; Beekeepers</a:t>
            </a:r>
          </a:p>
          <a:p>
            <a:pPr>
              <a:defRPr sz="1100" b="1">
                <a:solidFill>
                  <a:srgbClr val="7A4B00"/>
                </a:solidFill>
              </a:defRPr>
            </a:pPr>
            <a:r>
              <a:t>Note: AI-assisted screening — not definitive diagnosis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3749039"/>
            <a:ext cx="5212080" cy="23774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9DE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3886199"/>
            <a:ext cx="484632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400">
                <a:solidFill>
                  <a:srgbClr val="6B46C1"/>
                </a:solidFill>
              </a:defRPr>
            </a:pPr>
            <a:r>
              <a:t>PANEL 3: BLOCKCHAIN TRACEABILITY</a:t>
            </a:r>
          </a:p>
          <a:p>
            <a:pPr>
              <a:defRPr sz="1100">
                <a:solidFill>
                  <a:srgbClr val="1F2937"/>
                </a:solidFill>
              </a:defRPr>
            </a:pPr>
            <a:r>
              <a:t>• Digital Identity for Honey Batches &amp; Packages</a:t>
            </a:r>
          </a:p>
          <a:p>
            <a:pPr>
              <a:defRPr sz="1100">
                <a:solidFill>
                  <a:srgbClr val="1F2937"/>
                </a:solidFill>
              </a:defRPr>
            </a:pPr>
            <a:r>
              <a:t>• Package-Level Serialized Tracking</a:t>
            </a:r>
          </a:p>
          <a:p>
            <a:pPr>
              <a:defRPr sz="1100">
                <a:solidFill>
                  <a:srgbClr val="1F2937"/>
                </a:solidFill>
              </a:defRPr>
            </a:pPr>
            <a:r>
              <a:t>• SHA-256 Operational Data Integrity Hashing</a:t>
            </a:r>
          </a:p>
          <a:p>
            <a:pPr>
              <a:defRPr sz="1100">
                <a:solidFill>
                  <a:srgbClr val="1F2937"/>
                </a:solidFill>
              </a:defRPr>
            </a:pPr>
            <a:r>
              <a:t>• EVM Smart Contract Immutable Event Anchoring</a:t>
            </a:r>
          </a:p>
          <a:p>
            <a:pPr>
              <a:defRPr sz="1100">
                <a:solidFill>
                  <a:srgbClr val="1F2937"/>
                </a:solidFill>
              </a:defRPr>
            </a:pPr>
            <a:r>
              <a:t>• Full Lifecycle: Harvest ➔ Quality ➔ Processing ➔ QR</a:t>
            </a:r>
          </a:p>
          <a:p>
            <a:pPr>
              <a:defRPr sz="1100">
                <a:solidFill>
                  <a:srgbClr val="1F2937"/>
                </a:solidFill>
              </a:defRPr>
            </a:pPr>
            <a:r>
              <a:t>• Digital Honey Passport for End-Consumers</a:t>
            </a:r>
          </a:p>
          <a:p>
            <a:pPr>
              <a:defRPr sz="1100" b="1">
                <a:solidFill>
                  <a:srgbClr val="6B46C1"/>
                </a:solidFill>
              </a:defRPr>
            </a:pPr>
            <a:r>
              <a:t>Status: Verifiable Traceability Records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3749039"/>
            <a:ext cx="5212080" cy="23774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9DE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0" y="3886199"/>
            <a:ext cx="484632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400">
                <a:solidFill>
                  <a:srgbClr val="1F2937"/>
                </a:solidFill>
              </a:defRPr>
            </a:pPr>
            <a:r>
              <a:t>PANEL 4: TARGET USERS &amp; WORKFLOWS</a:t>
            </a:r>
          </a:p>
          <a:p>
            <a:pPr>
              <a:defRPr sz="1100">
                <a:solidFill>
                  <a:srgbClr val="1F2937"/>
                </a:solidFill>
              </a:defRPr>
            </a:pPr>
            <a:r>
              <a:t>• BEEKEEPERS: Hive telemetry, abnormal alerts, digital logs</a:t>
            </a:r>
          </a:p>
          <a:p>
            <a:pPr>
              <a:defRPr sz="1100">
                <a:solidFill>
                  <a:srgbClr val="1F2937"/>
                </a:solidFill>
              </a:defRPr>
            </a:pPr>
            <a:r>
              <a:t>• QUALITY INSPECTORS: Lab parameters, AI screening, audits</a:t>
            </a:r>
          </a:p>
          <a:p>
            <a:pPr>
              <a:defRPr sz="1100">
                <a:solidFill>
                  <a:srgbClr val="1F2937"/>
                </a:solidFill>
              </a:defRPr>
            </a:pPr>
            <a:r>
              <a:t>• PRODUCERS / PACKAGERS: Batch management &amp; package QR</a:t>
            </a:r>
          </a:p>
          <a:p>
            <a:pPr>
              <a:defRPr sz="1100">
                <a:solidFill>
                  <a:srgbClr val="1F2937"/>
                </a:solidFill>
              </a:defRPr>
            </a:pPr>
            <a:r>
              <a:t>• CUSTOMERS: Scan QR, verify provenance &amp; blockchain history</a:t>
            </a:r>
          </a:p>
          <a:p>
            <a:pPr>
              <a:defRPr sz="1100">
                <a:solidFill>
                  <a:srgbClr val="1F2937"/>
                </a:solidFill>
              </a:defRPr>
            </a:pPr>
            <a:r>
              <a:t>• TRANSPARENCY: End-to-end trust across supply chain</a:t>
            </a:r>
          </a:p>
          <a:p>
            <a:pPr>
              <a:defRPr sz="1100" b="1">
                <a:solidFill>
                  <a:srgbClr val="1F2937"/>
                </a:solidFill>
              </a:defRPr>
            </a:pPr>
            <a:r>
              <a:t>Value: Transparent. Traceable. Trusted.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6309360"/>
            <a:ext cx="10728655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>
                <a:solidFill>
                  <a:srgbClr val="5B6472"/>
                </a:solidFill>
                <a:latin typeface="Inter"/>
              </a:defRPr>
            </a:pPr>
            <a:r>
              <a:t>From Hive to Home — Transparent. Traceable. Trusted.  |  Team Nexora  |  Problem Statement ID: SIH26021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D99000"/>
                </a:solidFill>
                <a:latin typeface="Inter"/>
              </a:defRPr>
            </a:pPr>
            <a:r>
              <a:t>SMART INDIA HACKATHON 2026 • SIH26021</a:t>
            </a:r>
          </a:p>
          <a:p>
            <a:pPr>
              <a:defRPr sz="2600" b="1">
                <a:solidFill>
                  <a:srgbClr val="7A4B00"/>
                </a:solidFill>
                <a:latin typeface="Inter"/>
              </a:defRPr>
            </a:pPr>
            <a:r>
              <a:t>IMPACT AND BENEFITS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188720"/>
            <a:ext cx="10728655" cy="9144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9DE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280160"/>
            <a:ext cx="103628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400">
                <a:solidFill>
                  <a:srgbClr val="D99000"/>
                </a:solidFill>
              </a:defRPr>
            </a:pPr>
            <a:r>
              <a:t>1. BEEKEEPER BENEFITS</a:t>
            </a:r>
          </a:p>
          <a:p>
            <a:pPr>
              <a:defRPr sz="1200">
                <a:solidFill>
                  <a:srgbClr val="1F2937"/>
                </a:solidFill>
              </a:defRPr>
            </a:pPr>
            <a:r>
              <a:t>Real-time hive condition monitoring • Early warning alerts for abnormal hive states • Data-driven hive management • Digital hive &amp; harvest logs • Enhanced operational visibility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212848"/>
            <a:ext cx="10728655" cy="9144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9DE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304288"/>
            <a:ext cx="103628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400">
                <a:solidFill>
                  <a:srgbClr val="7A4B00"/>
                </a:solidFill>
              </a:defRPr>
            </a:pPr>
            <a:r>
              <a:t>2. CONSUMER BENEFITS</a:t>
            </a:r>
          </a:p>
          <a:p>
            <a:pPr>
              <a:defRPr sz="1200">
                <a:solidFill>
                  <a:srgbClr val="1F2937"/>
                </a:solidFill>
              </a:defRPr>
            </a:pPr>
            <a:r>
              <a:t>Instant QR verification at package level • Complete transparent honey journey • Direct access to batch &amp; lab data • Digital Honey Passport • Higher consumer trust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3236976"/>
            <a:ext cx="10728655" cy="9144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9DE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3328416"/>
            <a:ext cx="103628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400">
                <a:solidFill>
                  <a:srgbClr val="6B46C1"/>
                </a:solidFill>
              </a:defRPr>
            </a:pPr>
            <a:r>
              <a:t>3. SUPPLY CHAIN BENEFITS</a:t>
            </a:r>
          </a:p>
          <a:p>
            <a:pPr>
              <a:defRPr sz="1200">
                <a:solidFill>
                  <a:srgbClr val="1F2937"/>
                </a:solidFill>
              </a:defRPr>
            </a:pPr>
            <a:r>
              <a:t>End-to-end honey batch traceability • Tamper-evident blockchain records • Secure digital batch history • Package-level verification • Complete stakeholder accountability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4261104"/>
            <a:ext cx="10728655" cy="9144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9DE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4352544"/>
            <a:ext cx="103628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400">
                <a:solidFill>
                  <a:srgbClr val="198754"/>
                </a:solidFill>
              </a:defRPr>
            </a:pPr>
            <a:r>
              <a:t>4. QUALITY &amp; FOOD TRANSPARENCY</a:t>
            </a:r>
          </a:p>
          <a:p>
            <a:pPr>
              <a:defRPr sz="1200">
                <a:solidFill>
                  <a:srgbClr val="1F2937"/>
                </a:solidFill>
              </a:defRPr>
            </a:pPr>
            <a:r>
              <a:t>Structured lab quality records • Batch-level quality verification • AI-assisted quality screening • Transparent processing history • High standards compliance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5285232"/>
            <a:ext cx="10728655" cy="9144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9DE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5376672"/>
            <a:ext cx="103628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400">
                <a:solidFill>
                  <a:srgbClr val="7A4B00"/>
                </a:solidFill>
              </a:defRPr>
            </a:pPr>
            <a:r>
              <a:t>5. AGRICULTURE &amp; RURAL DEVELOPMENT</a:t>
            </a:r>
          </a:p>
          <a:p>
            <a:pPr>
              <a:defRPr sz="1200">
                <a:solidFill>
                  <a:srgbClr val="1F2937"/>
                </a:solidFill>
              </a:defRPr>
            </a:pPr>
            <a:r>
              <a:t>Supports sustainable beekeeping practices • Empowers rural beekeeping livelihoods • Promotes pollination awareness • Encourages responsible apiary care • Modernizes ag tech supply chains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6309360"/>
            <a:ext cx="10728655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>
                <a:solidFill>
                  <a:srgbClr val="5B6472"/>
                </a:solidFill>
                <a:latin typeface="Inter"/>
              </a:defRPr>
            </a:pPr>
            <a:r>
              <a:t>From Hive to Home — Transparent. Traceable. Trusted.  |  Team Nexora  |  Problem Statement ID: SIH26021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D99000"/>
                </a:solidFill>
                <a:latin typeface="Inter"/>
              </a:defRPr>
            </a:pPr>
            <a:r>
              <a:t>SMART INDIA HACKATHON 2026 • SIH26021</a:t>
            </a:r>
          </a:p>
          <a:p>
            <a:pPr>
              <a:defRPr sz="2600" b="1">
                <a:solidFill>
                  <a:srgbClr val="7A4B00"/>
                </a:solidFill>
                <a:latin typeface="Inter"/>
              </a:defRPr>
            </a:pPr>
            <a:r>
              <a:t>RESEARCH AND REFERENCES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188720"/>
            <a:ext cx="5212080" cy="49377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9DE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371600"/>
            <a:ext cx="48463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600">
                <a:solidFill>
                  <a:srgbClr val="D99000"/>
                </a:solidFill>
              </a:defRPr>
            </a:pPr>
            <a:r>
              <a:t>RESEARCH WORK FOUNDATION</a:t>
            </a:r>
          </a:p>
          <a:p>
            <a:pPr>
              <a:defRPr b="1" sz="1200">
                <a:solidFill>
                  <a:srgbClr val="1F2937"/>
                </a:solidFill>
              </a:defRPr>
            </a:pPr>
            <a:r>
              <a:t>• IoT-Based Smart Hive Monitoring</a:t>
            </a:r>
          </a:p>
          <a:p>
            <a:pPr>
              <a:defRPr sz="1000">
                <a:solidFill>
                  <a:srgbClr val="5B6472"/>
                </a:solidFill>
              </a:defRPr>
            </a:pPr>
            <a:r>
              <a:t>Studied temperature, humidity, weight and acoustic sensing approaches for continuous, non-invasive colony evaluation.</a:t>
            </a:r>
          </a:p>
          <a:p>
            <a:pPr>
              <a:defRPr b="1" sz="1200">
                <a:solidFill>
                  <a:srgbClr val="1F2937"/>
                </a:solidFill>
              </a:defRPr>
            </a:pPr>
            <a:r>
              <a:t>• Industrial Sensor &amp; Edge Monitoring</a:t>
            </a:r>
          </a:p>
          <a:p>
            <a:pPr>
              <a:defRPr sz="1000">
                <a:solidFill>
                  <a:srgbClr val="5B6472"/>
                </a:solidFill>
              </a:defRPr>
            </a:pPr>
            <a:r>
              <a:t>Reviewed sensor technologies and edge-based architectures suitable for scalable, low-power smart-hive deployment.</a:t>
            </a:r>
          </a:p>
          <a:p>
            <a:pPr>
              <a:defRPr b="1" sz="1200">
                <a:solidFill>
                  <a:srgbClr val="1F2937"/>
                </a:solidFill>
              </a:defRPr>
            </a:pPr>
            <a:r>
              <a:t>• AI/ML-Based Hive Monitoring</a:t>
            </a:r>
          </a:p>
          <a:p>
            <a:pPr>
              <a:defRPr sz="1000">
                <a:solidFill>
                  <a:srgbClr val="5B6472"/>
                </a:solidFill>
              </a:defRPr>
            </a:pPr>
            <a:r>
              <a:t>Reviewed sensor-data analysis, anomaly detection, and time-series forecasting for colony condition screening.</a:t>
            </a:r>
          </a:p>
          <a:p>
            <a:pPr>
              <a:defRPr b="1" sz="1200">
                <a:solidFill>
                  <a:srgbClr val="1F2937"/>
                </a:solidFill>
              </a:defRPr>
            </a:pPr>
            <a:r>
              <a:t>• Honey Authentication &amp; Traceability</a:t>
            </a:r>
          </a:p>
          <a:p>
            <a:pPr>
              <a:defRPr sz="1000">
                <a:solidFill>
                  <a:srgbClr val="5B6472"/>
                </a:solidFill>
              </a:defRPr>
            </a:pPr>
            <a:r>
              <a:t>Studied intelligent systems combining analytical quality data with machine learning for honey authentication &amp; supply chain integrity.</a:t>
            </a:r>
          </a:p>
          <a:p>
            <a:pPr>
              <a:defRPr b="1" sz="1200">
                <a:solidFill>
                  <a:srgbClr val="1F2937"/>
                </a:solidFill>
              </a:defRPr>
            </a:pPr>
            <a:r>
              <a:t>• Beekeeping &amp; Sustainable Livelihoods</a:t>
            </a:r>
          </a:p>
          <a:p>
            <a:pPr>
              <a:defRPr sz="1000">
                <a:solidFill>
                  <a:srgbClr val="5B6472"/>
                </a:solidFill>
              </a:defRPr>
            </a:pPr>
            <a:r>
              <a:t>Reviewed the role of beekeeping in rural livelihoods, crop pollination, biodiversity, and agricultural development.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188720"/>
            <a:ext cx="5212080" cy="49377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9DE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0" y="1371600"/>
            <a:ext cx="48463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600">
                <a:solidFill>
                  <a:srgbClr val="7A4B00"/>
                </a:solidFill>
              </a:defRPr>
            </a:pPr>
            <a:r>
              <a:t>KEY SCIENTIFIC &amp; INSTITUTIONAL REFERENCES</a:t>
            </a:r>
          </a:p>
          <a:p>
            <a:pPr>
              <a:defRPr b="1" sz="1200">
                <a:solidFill>
                  <a:srgbClr val="1F2937"/>
                </a:solidFill>
              </a:defRPr>
            </a:pPr>
            <a:r>
              <a:t>1. FAO — Food and Agriculture Organization</a:t>
            </a:r>
          </a:p>
          <a:p>
            <a:pPr>
              <a:defRPr sz="1100" i="1">
                <a:solidFill>
                  <a:srgbClr val="7A4B00"/>
                </a:solidFill>
              </a:defRPr>
            </a:pPr>
            <a:r>
              <a:t>"Beekeeping and Sustainable Livelihoods"</a:t>
            </a:r>
          </a:p>
          <a:p>
            <a:pPr>
              <a:defRPr sz="900">
                <a:solidFill>
                  <a:srgbClr val="2563EB"/>
                </a:solidFill>
              </a:defRPr>
            </a:pPr>
            <a:r>
              <a:t>https://www.fao.org/3/y5110e/y5110e00.htm</a:t>
            </a:r>
          </a:p>
          <a:p/>
          <a:p>
            <a:pPr>
              <a:defRPr b="1" sz="1200">
                <a:solidFill>
                  <a:srgbClr val="1F2937"/>
                </a:solidFill>
              </a:defRPr>
            </a:pPr>
            <a:r>
              <a:t>2. MDPI Sensors Journal</a:t>
            </a:r>
          </a:p>
          <a:p>
            <a:pPr>
              <a:defRPr sz="1100" i="1">
                <a:solidFill>
                  <a:srgbClr val="7A4B00"/>
                </a:solidFill>
              </a:defRPr>
            </a:pPr>
            <a:r>
              <a:t>"A Smart Sensor-Based Measurement System for Advanced Bee Hive Monitoring"</a:t>
            </a:r>
          </a:p>
          <a:p>
            <a:pPr>
              <a:defRPr sz="900">
                <a:solidFill>
                  <a:srgbClr val="2563EB"/>
                </a:solidFill>
              </a:defRPr>
            </a:pPr>
            <a:r>
              <a:t>https://www.mdpi.com/1424-8220/20/14/3844</a:t>
            </a:r>
          </a:p>
          <a:p/>
          <a:p>
            <a:pPr>
              <a:defRPr b="1" sz="1200">
                <a:solidFill>
                  <a:srgbClr val="1F2937"/>
                </a:solidFill>
              </a:defRPr>
            </a:pPr>
            <a:r>
              <a:t>3. MDPI Sensors Journal</a:t>
            </a:r>
          </a:p>
          <a:p>
            <a:pPr>
              <a:defRPr sz="1100" i="1">
                <a:solidFill>
                  <a:srgbClr val="7A4B00"/>
                </a:solidFill>
              </a:defRPr>
            </a:pPr>
            <a:r>
              <a:t>"Discrete Time Series Forecasting of Hive Weight, In-Hive Temp, &amp; Entrance Traffic in Non-Invasive Monitoring of Managed Honey Bee Colonies"</a:t>
            </a:r>
          </a:p>
          <a:p>
            <a:pPr>
              <a:defRPr sz="900">
                <a:solidFill>
                  <a:srgbClr val="2563EB"/>
                </a:solidFill>
              </a:defRPr>
            </a:pPr>
            <a:r>
              <a:t>https://www.mdpi.com/1424-8220/21/21/7365</a:t>
            </a:r>
          </a:p>
          <a:p/>
          <a:p>
            <a:pPr>
              <a:defRPr b="1" sz="1200">
                <a:solidFill>
                  <a:srgbClr val="1F2937"/>
                </a:solidFill>
              </a:defRPr>
            </a:pPr>
            <a:r>
              <a:t>4. ScienceDirect / Elsevier</a:t>
            </a:r>
          </a:p>
          <a:p>
            <a:pPr>
              <a:defRPr sz="1100" i="1">
                <a:solidFill>
                  <a:srgbClr val="7A4B00"/>
                </a:solidFill>
              </a:defRPr>
            </a:pPr>
            <a:r>
              <a:t>"Evolution of Honey Authentication &amp; Traceability: From Conventional Assays to Intelligent Systems Integrating Multi-Omics &amp; Machine Learning"</a:t>
            </a:r>
          </a:p>
          <a:p>
            <a:pPr>
              <a:defRPr sz="900">
                <a:solidFill>
                  <a:srgbClr val="2563EB"/>
                </a:solidFill>
              </a:defRPr>
            </a:pPr>
            <a:r>
              <a:t>https://doi.org/10.1016/j.tifs.2021.08.012</a:t>
            </a:r>
          </a:p>
          <a:p/>
        </p:txBody>
      </p:sp>
      <p:sp>
        <p:nvSpPr>
          <p:cNvPr id="8" name="TextBox 7"/>
          <p:cNvSpPr txBox="1"/>
          <p:nvPr/>
        </p:nvSpPr>
        <p:spPr>
          <a:xfrm>
            <a:off x="731520" y="6309360"/>
            <a:ext cx="10728655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>
                <a:solidFill>
                  <a:srgbClr val="5B6472"/>
                </a:solidFill>
                <a:latin typeface="Inter"/>
              </a:defRPr>
            </a:pPr>
            <a:r>
              <a:t>From Hive to Home — Transparent. Traceable. Trusted.  |  Team Nexora  |  Problem Statement ID: SIH26021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